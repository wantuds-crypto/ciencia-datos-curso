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46"/>
          <c:y val="0.02"/>
          <c:w val="0.45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típico</c:v>
                </c:pt>
              </c:strCache>
            </c:strRef>
          </c:tx>
          <c:spPr>
            <a:solidFill>
              <a:srgbClr val="5B6B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40-49B0-AA34-C34B4D960783}"/>
              </c:ext>
            </c:extLst>
          </c:dPt>
          <c:dPt>
            <c:idx val="1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40-49B0-AA34-C34B4D960783}"/>
              </c:ext>
            </c:extLst>
          </c:dPt>
          <c:dPt>
            <c:idx val="2"/>
            <c:invertIfNegative val="0"/>
            <c:bubble3D val="0"/>
            <c:spPr>
              <a:solidFill>
                <a:srgbClr val="1622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40-49B0-AA34-C34B4D960783}"/>
              </c:ext>
            </c:extLst>
          </c:dPt>
          <c:dPt>
            <c:idx val="3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740-49B0-AA34-C34B4D960783}"/>
              </c:ext>
            </c:extLst>
          </c:dPt>
          <c:dPt>
            <c:idx val="4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740-49B0-AA34-C34B4D960783}"/>
              </c:ext>
            </c:extLst>
          </c:dPt>
          <c:dPt>
            <c:idx val="5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740-49B0-AA34-C34B4D960783}"/>
              </c:ext>
            </c:extLst>
          </c:dPt>
          <c:dPt>
            <c:idx val="6"/>
            <c:invertIfNegative val="0"/>
            <c:bubble3D val="0"/>
            <c:spPr>
              <a:solidFill>
                <a:srgbClr val="0083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740-49B0-AA34-C34B4D960783}"/>
              </c:ext>
            </c:extLst>
          </c:dPt>
          <c:dLbls>
            <c:numFmt formatCode="0.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22B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Primer modelo (M1 lineal)</c:v>
                </c:pt>
                <c:pt idx="1">
                  <c:v>M2 lineal log-log</c:v>
                </c:pt>
                <c:pt idx="2">
                  <c:v>Con datos corregidos (M2c)</c:v>
                </c:pt>
                <c:pt idx="3">
                  <c:v>Random Forest sencillo</c:v>
                </c:pt>
                <c:pt idx="4">
                  <c:v>Random Forest + Optuna</c:v>
                </c:pt>
                <c:pt idx="5">
                  <c:v>XGBoost sencillo</c:v>
                </c:pt>
                <c:pt idx="6">
                  <c:v>Modelo final (XGBoost + Optuna)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18.5</c:v>
                </c:pt>
                <c:pt idx="1">
                  <c:v>15.1</c:v>
                </c:pt>
                <c:pt idx="2">
                  <c:v>11.6</c:v>
                </c:pt>
                <c:pt idx="3">
                  <c:v>12.2</c:v>
                </c:pt>
                <c:pt idx="4">
                  <c:v>11.9</c:v>
                </c:pt>
                <c:pt idx="5">
                  <c:v>12.1</c:v>
                </c:pt>
                <c:pt idx="6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740-49B0-AA34-C34B4D9607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2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4"/>
          <c:y val="0.02"/>
          <c:w val="0.74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Casas a ±20 %</c:v>
                </c:pt>
              </c:strCache>
            </c:strRef>
          </c:tx>
          <c:spPr>
            <a:solidFill>
              <a:srgbClr val="5B6B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E9-4C63-B93F-88056569A7AD}"/>
              </c:ext>
            </c:extLst>
          </c:dPt>
          <c:dPt>
            <c:idx val="1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E9-4C63-B93F-88056569A7AD}"/>
              </c:ext>
            </c:extLst>
          </c:dPt>
          <c:dPt>
            <c:idx val="2"/>
            <c:invertIfNegative val="0"/>
            <c:bubble3D val="0"/>
            <c:spPr>
              <a:solidFill>
                <a:srgbClr val="1622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E9-4C63-B93F-88056569A7AD}"/>
              </c:ext>
            </c:extLst>
          </c:dPt>
          <c:dPt>
            <c:idx val="3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E9-4C63-B93F-88056569A7AD}"/>
              </c:ext>
            </c:extLst>
          </c:dPt>
          <c:dPt>
            <c:idx val="4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E9-4C63-B93F-88056569A7AD}"/>
              </c:ext>
            </c:extLst>
          </c:dPt>
          <c:dPt>
            <c:idx val="5"/>
            <c:invertIfNegative val="0"/>
            <c:bubble3D val="0"/>
            <c:spPr>
              <a:solidFill>
                <a:srgbClr val="D3D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E9-4C63-B93F-88056569A7AD}"/>
              </c:ext>
            </c:extLst>
          </c:dPt>
          <c:dPt>
            <c:idx val="6"/>
            <c:invertIfNegative val="0"/>
            <c:bubble3D val="0"/>
            <c:spPr>
              <a:solidFill>
                <a:srgbClr val="0083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4E9-4C63-B93F-88056569A7AD}"/>
              </c:ext>
            </c:extLst>
          </c:dPt>
          <c:dLbls>
            <c:numFmt formatCode="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22B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Primer modelo (M1 lineal)</c:v>
                </c:pt>
                <c:pt idx="1">
                  <c:v>M2 lineal log-log</c:v>
                </c:pt>
                <c:pt idx="2">
                  <c:v>Con datos corregidos (M2c)</c:v>
                </c:pt>
                <c:pt idx="3">
                  <c:v>Random Forest sencillo</c:v>
                </c:pt>
                <c:pt idx="4">
                  <c:v>Random Forest + Optuna</c:v>
                </c:pt>
                <c:pt idx="5">
                  <c:v>XGBoost sencillo</c:v>
                </c:pt>
                <c:pt idx="6">
                  <c:v>Modelo final (XGBoost + Optuna)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52.8</c:v>
                </c:pt>
                <c:pt idx="1">
                  <c:v>60.4</c:v>
                </c:pt>
                <c:pt idx="2">
                  <c:v>73.599999999999994</c:v>
                </c:pt>
                <c:pt idx="3">
                  <c:v>70</c:v>
                </c:pt>
                <c:pt idx="4">
                  <c:v>72.3</c:v>
                </c:pt>
                <c:pt idx="5">
                  <c:v>71.7</c:v>
                </c:pt>
                <c:pt idx="6">
                  <c:v>75.599999999999994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4E9-4C63-B93F-88056569A7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 permutación (lo que pierde el estimador sin esa característica)</c:v>
                </c:pt>
              </c:strCache>
            </c:strRef>
          </c:tx>
          <c:spPr>
            <a:solidFill>
              <a:srgbClr val="00839C"/>
            </a:solidFill>
            <a:effectLst/>
          </c:spPr>
          <c:invertIfNegative val="0"/>
          <c:dLbls>
            <c:numFmt formatCode="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22B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Tamaño (m² construidos)</c:v>
                </c:pt>
                <c:pt idx="1">
                  <c:v>Zona</c:v>
                </c:pt>
                <c:pt idx="2">
                  <c:v>Barrio (código postal)</c:v>
                </c:pt>
                <c:pt idx="3">
                  <c:v>Terreno</c:v>
                </c:pt>
                <c:pt idx="4">
                  <c:v>Vista</c:v>
                </c:pt>
                <c:pt idx="5">
                  <c:v>Año de construcción</c:v>
                </c:pt>
                <c:pt idx="6">
                  <c:v>Baños</c:v>
                </c:pt>
                <c:pt idx="7">
                  <c:v>Estado de la casa</c:v>
                </c:pt>
                <c:pt idx="8">
                  <c:v>Habitaciones</c:v>
                </c:pt>
                <c:pt idx="9">
                  <c:v>Pisos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36.200000000000003</c:v>
                </c:pt>
                <c:pt idx="1">
                  <c:v>30.6</c:v>
                </c:pt>
                <c:pt idx="2">
                  <c:v>21.7</c:v>
                </c:pt>
                <c:pt idx="3">
                  <c:v>3.4</c:v>
                </c:pt>
                <c:pt idx="4">
                  <c:v>2.8</c:v>
                </c:pt>
                <c:pt idx="5">
                  <c:v>2.2000000000000002</c:v>
                </c:pt>
                <c:pt idx="6">
                  <c:v>1.4</c:v>
                </c:pt>
                <c:pt idx="7">
                  <c:v>1</c:v>
                </c:pt>
                <c:pt idx="8">
                  <c:v>0.6</c:v>
                </c:pt>
                <c:pt idx="9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88-41E7-88A3-629E0016BA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Importancia nativa del modelo</c:v>
                </c:pt>
              </c:strCache>
            </c:strRef>
          </c:tx>
          <c:spPr>
            <a:solidFill>
              <a:srgbClr val="9AA7AF"/>
            </a:solidFill>
            <a:effectLst/>
          </c:spPr>
          <c:invertIfNegative val="0"/>
          <c:dLbls>
            <c:numFmt formatCode="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22B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Tamaño (m² construidos)</c:v>
                </c:pt>
                <c:pt idx="1">
                  <c:v>Zona</c:v>
                </c:pt>
                <c:pt idx="2">
                  <c:v>Barrio (código postal)</c:v>
                </c:pt>
                <c:pt idx="3">
                  <c:v>Terreno</c:v>
                </c:pt>
                <c:pt idx="4">
                  <c:v>Vista</c:v>
                </c:pt>
                <c:pt idx="5">
                  <c:v>Año de construcción</c:v>
                </c:pt>
                <c:pt idx="6">
                  <c:v>Baños</c:v>
                </c:pt>
                <c:pt idx="7">
                  <c:v>Estado de la casa</c:v>
                </c:pt>
                <c:pt idx="8">
                  <c:v>Habitaciones</c:v>
                </c:pt>
                <c:pt idx="9">
                  <c:v>Pisos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7.6</c:v>
                </c:pt>
                <c:pt idx="1">
                  <c:v>43.4</c:v>
                </c:pt>
                <c:pt idx="2">
                  <c:v>40</c:v>
                </c:pt>
                <c:pt idx="3">
                  <c:v>0.3</c:v>
                </c:pt>
                <c:pt idx="4">
                  <c:v>3.3</c:v>
                </c:pt>
                <c:pt idx="5">
                  <c:v>0.6</c:v>
                </c:pt>
                <c:pt idx="6">
                  <c:v>2.6</c:v>
                </c:pt>
                <c:pt idx="7">
                  <c:v>0.6</c:v>
                </c:pt>
                <c:pt idx="8">
                  <c:v>0.7</c:v>
                </c:pt>
                <c:pt idx="9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88-41E7-88A3-629E0016BA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2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622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Efecto</c:v>
                </c:pt>
              </c:strCache>
            </c:strRef>
          </c:tx>
          <c:spPr>
            <a:solidFill>
              <a:srgbClr val="00839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06-4535-838A-91CD5038C7F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E06-4535-838A-91CD5038C7F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E06-4535-838A-91CD5038C7F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E06-4535-838A-91CD5038C7F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E06-4535-838A-91CD5038C7F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E06-4535-838A-91CD5038C7F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E06-4535-838A-91CD5038C7FF}"/>
              </c:ext>
            </c:extLst>
          </c:dPt>
          <c:dPt>
            <c:idx val="7"/>
            <c:invertIfNegative val="0"/>
            <c:bubble3D val="0"/>
            <c:spPr>
              <a:solidFill>
                <a:srgbClr val="A426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E06-4535-838A-91CD5038C7FF}"/>
              </c:ext>
            </c:extLst>
          </c:dPt>
          <c:dPt>
            <c:idx val="8"/>
            <c:invertIfNegative val="0"/>
            <c:bubble3D val="0"/>
            <c:spPr>
              <a:solidFill>
                <a:srgbClr val="A426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E06-4535-838A-91CD5038C7FF}"/>
              </c:ext>
            </c:extLst>
          </c:dPt>
          <c:dPt>
            <c:idx val="9"/>
            <c:invertIfNegative val="0"/>
            <c:bubble3D val="0"/>
            <c:spPr>
              <a:solidFill>
                <a:srgbClr val="A426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E06-4535-838A-91CD5038C7FF}"/>
              </c:ext>
            </c:extLst>
          </c:dPt>
          <c:dPt>
            <c:idx val="10"/>
            <c:invertIfNegative val="0"/>
            <c:bubble3D val="0"/>
            <c:spPr>
              <a:solidFill>
                <a:srgbClr val="A426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BE06-4535-838A-91CD5038C7FF}"/>
              </c:ext>
            </c:extLst>
          </c:dPt>
          <c:dLbls>
            <c:numFmt formatCode="\+0&quot; %&quot;;\-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22B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Casa grande (más de 300 m²)</c:v>
                </c:pt>
                <c:pt idx="1">
                  <c:v>Vista excelente</c:v>
                </c:pt>
                <c:pt idx="2">
                  <c:v>Ubicada en Seattle</c:v>
                </c:pt>
                <c:pt idx="3">
                  <c:v>Ubicada en Eastside</c:v>
                </c:pt>
                <c:pt idx="4">
                  <c:v>Estado excelente</c:v>
                </c:pt>
                <c:pt idx="5">
                  <c:v>Construida desde 2005</c:v>
                </c:pt>
                <c:pt idx="6">
                  <c:v>3 baños o más</c:v>
                </c:pt>
                <c:pt idx="7">
                  <c:v>Solo 1 baño</c:v>
                </c:pt>
                <c:pt idx="8">
                  <c:v>Estado malo o regular</c:v>
                </c:pt>
                <c:pt idx="9">
                  <c:v>Ubicada en el Sur</c:v>
                </c:pt>
                <c:pt idx="10">
                  <c:v>Casa pequeña (menos de 90 m²)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46</c:v>
                </c:pt>
                <c:pt idx="1">
                  <c:v>44</c:v>
                </c:pt>
                <c:pt idx="2">
                  <c:v>15</c:v>
                </c:pt>
                <c:pt idx="3">
                  <c:v>14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-9</c:v>
                </c:pt>
                <c:pt idx="8">
                  <c:v>-21</c:v>
                </c:pt>
                <c:pt idx="9">
                  <c:v>-35</c:v>
                </c:pt>
                <c:pt idx="10">
                  <c:v>-41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BE06-4535-838A-91CD5038C7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2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-6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93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Trabajo final de Ciencia de Datos: estimador de precios de vivienda con 4.546 ventas reales de King County (Seattle, 2014). Integrantes: Xiomy Baquero y Michael Román Álzate.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típico = error porcentual mediano. Primer modelo: regresión lineal. Datos corregidos: se quitaron variables repetidas y se agregó el código postal. Modelo final: XGBoost optimizado con Optuna (200 corridas). Se verificó que el modelo no usa información que contenga el precio y que los datos son estables en el tiempo.
Gráficos agregados desde el notebook: (1) comparación de los 7 modelos probados (error % mediano y % de casas dentro de ±20 %), sección 6; (2) historia de las 200 corridas de Optuna para XGBoost (165 completas, 35 podadas), sección 5. El error se mide como RMSE de log(precio) en validación cruzada de 5 partes; el mejor valor fue 0,2226. R² (log) del modelo final en prueba: 0,84.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 calculado con importancia por permutación (cuánto empeora el estimador si se desordena esa característica), normalizado al 100 %. 36 + 31 + 22 ≈ 88 %.
Serie gris agregada desde el notebook (sección 7): importancia nativa de XGBoost (ganancia), como proporción del total. Le da más peso a zona y código postal (83 % entre ambas) porque mide cuánto ayudan en las divisiones de los árboles; las dos medidas coinciden en que tamaño y ubicación dominan (88 % y 91 %).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Efectos tomados de los valores SHAP del modelo final (promedio por grupo, sección 9.4 del notebook; efecto en log del precio aproximado como porcentaje). Son efectos promedio y no se suman exactamente entre sí. Habitaciones: con el mismo tamaño, más habitaciones significa habitaciones más pequeñas y resta un poco.
Gráficos de la derecha agregados desde el notebook (sección 7.4): dependencia SHAP de cada variable numérica, medida en las casas de prueba. La dirección coincide con lo esperado: área (correlación valor–efecto 1,00), baños (0,79), estado (0,85), vista (0,53) y año (0,46) suben el precio; habitaciones con igual área lo bajan (−0,85).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entrenado está guardado (modelo_final_precio_vivienda.joblib) junto con una función de predicción que revisa rangos.
Tabla agregada desde el notebook (sección 8, función predecir_precio): cuatro casas de ejemplo. La última es igual a la tercera pero construida en 2020; el estimador da el mismo precio y avisa que el año está fuera de lo que conoce (1900–2014).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69848"/>
            <a:ext cx="11091672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Basado en 4.546 ventas reales de vivienda en Seattle y alrededores (2014). Resultados medidos en casas que el modelo no vio al aprender.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hart" Target="../charts/chart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9048" cy="6858000"/>
          </a:xfrm>
          <a:prstGeom prst="rect">
            <a:avLst/>
          </a:prstGeom>
        </p:spPr>
      </p:pic>
      <p:sp>
        <p:nvSpPr>
          <p:cNvPr id="3" name="Circulo decorativo"/>
          <p:cNvSpPr/>
          <p:nvPr/>
        </p:nvSpPr>
        <p:spPr>
          <a:xfrm>
            <a:off x="3840480" y="868680"/>
            <a:ext cx="5120640" cy="5120640"/>
          </a:xfrm>
          <a:prstGeom prst="ellipse">
            <a:avLst/>
          </a:prstGeom>
          <a:solidFill>
            <a:srgbClr val="FFFFFF">
              <a:alpha val="0"/>
            </a:srgbClr>
          </a:solidFill>
          <a:ln w="431800">
            <a:solidFill>
              <a:srgbClr val="E2F4F6"/>
            </a:solidFill>
            <a:prstDash val="solid"/>
          </a:ln>
        </p:spPr>
      </p:sp>
      <p:sp>
        <p:nvSpPr>
          <p:cNvPr id="4" name="Bloque azul"/>
          <p:cNvSpPr/>
          <p:nvPr/>
        </p:nvSpPr>
        <p:spPr>
          <a:xfrm>
            <a:off x="6099048" y="0"/>
            <a:ext cx="6099048" cy="6858000"/>
          </a:xfrm>
          <a:prstGeom prst="rect">
            <a:avLst/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UNIVERSIDAD DE MEDELLÍN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Final · Ciencia de Datos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Estimador de precios de viviendas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 primer modelo lineal a XGBoost optimizado con Optuna, explicado con Feature Importance y SHAP.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5120640"/>
            <a:ext cx="1577340" cy="402336"/>
          </a:xfrm>
          <a:prstGeom prst="roundRect">
            <a:avLst>
              <a:gd name="adj" fmla="val 50000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120640"/>
            <a:ext cx="1577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4.546 ventas reales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46020" y="51206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46020" y="5120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 + Optuna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54780" y="5120640"/>
            <a:ext cx="1577340" cy="402336"/>
          </a:xfrm>
          <a:prstGeom prst="roundRect">
            <a:avLst>
              <a:gd name="adj" fmla="val 50000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4780" y="5120640"/>
            <a:ext cx="1577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típico 10,9 %</a:t>
            </a:r>
            <a:endParaRPr lang="en-US" sz="1050" dirty="0"/>
          </a:p>
        </p:txBody>
      </p:sp>
      <p:sp>
        <p:nvSpPr>
          <p:cNvPr id="15" name="Tarjeta integrantes"/>
          <p:cNvSpPr/>
          <p:nvPr/>
        </p:nvSpPr>
        <p:spPr>
          <a:xfrm>
            <a:off x="7086600" y="16916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49808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6B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Xiomy Baquero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Michael Román Álzate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498080" y="3520440"/>
            <a:ext cx="3291840" cy="0"/>
          </a:xfrm>
          <a:prstGeom prst="line">
            <a:avLst/>
          </a:prstGeom>
          <a:noFill/>
          <a:ln w="12700">
            <a:solidFill>
              <a:srgbClr val="D3DD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3703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Universidad de Medellín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Ciencia de Datos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Medellín,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estimador de precio </a:t>
            </a:r>
            <a:r>
              <a:rPr lang="en-US" sz="28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vez más preciso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698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Cuánto se equivoca el estimador en la casa típica, en cada etapa del proyecto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típico </a:t>
            </a:r>
            <a:r>
              <a:rPr lang="en-US" sz="115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(menor es mejor)</a:t>
            </a:r>
            <a:endParaRPr lang="en-US" sz="1150" dirty="0"/>
          </a:p>
        </p:txBody>
      </p:sp>
      <p:graphicFrame>
        <p:nvGraphicFramePr>
          <p:cNvPr id="5" name="Grafico error tipico"/>
          <p:cNvGraphicFramePr/>
          <p:nvPr/>
        </p:nvGraphicFramePr>
        <p:xfrm>
          <a:off x="411480" y="1810512"/>
          <a:ext cx="4434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56048" y="1536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Casas a ±20 % </a:t>
            </a:r>
            <a:r>
              <a:rPr lang="en-US" sz="115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(mayor es mejor)</a:t>
            </a:r>
            <a:endParaRPr lang="en-US" sz="1150" dirty="0"/>
          </a:p>
        </p:txBody>
      </p:sp>
      <p:graphicFrame>
        <p:nvGraphicFramePr>
          <p:cNvPr id="7" name="Grafico casas a 20"/>
          <p:cNvGraphicFramePr/>
          <p:nvPr/>
        </p:nvGraphicFramePr>
        <p:xfrm>
          <a:off x="4846320" y="1810512"/>
          <a:ext cx="2606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726680" y="15361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pruebas automáticas </a:t>
            </a:r>
            <a:r>
              <a:rPr lang="en-US" sz="115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afinar el modelo final</a:t>
            </a:r>
            <a:endParaRPr lang="en-US" sz="1150" dirty="0"/>
          </a:p>
        </p:txBody>
      </p:sp>
      <p:pic>
        <p:nvPicPr>
          <p:cNvPr id="9" name="Image 0" descr="Historia de las 200 corridas de Optuna para XGBoo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847088"/>
            <a:ext cx="3913632" cy="24403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26680" y="429768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punto gris es una prueba con Optuna; la línea azul marca el mejor resultado hasta ese momento.</a:t>
            </a:r>
            <a:endParaRPr lang="en-US" sz="950" dirty="0"/>
          </a:p>
        </p:txBody>
      </p:sp>
      <p:sp>
        <p:nvSpPr>
          <p:cNvPr id="11" name="Tarjeta 1"/>
          <p:cNvSpPr/>
          <p:nvPr/>
        </p:nvSpPr>
        <p:spPr>
          <a:xfrm>
            <a:off x="548640" y="4754880"/>
            <a:ext cx="3557016" cy="914400"/>
          </a:xfrm>
          <a:prstGeom prst="roundRect">
            <a:avLst>
              <a:gd name="adj" fmla="val 12000"/>
            </a:avLst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49808" y="4846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 cada 4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749808" y="5212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casas: el precio estimado queda a menos de ±20 % del precio real (antes, 1 de cada 2)</a:t>
            </a:r>
            <a:endParaRPr lang="en-US" sz="1050" dirty="0"/>
          </a:p>
        </p:txBody>
      </p:sp>
      <p:sp>
        <p:nvSpPr>
          <p:cNvPr id="14" name="Tarjeta 2"/>
          <p:cNvSpPr/>
          <p:nvPr/>
        </p:nvSpPr>
        <p:spPr>
          <a:xfrm>
            <a:off x="4315968" y="4754880"/>
            <a:ext cx="3557016" cy="9144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517136" y="4846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−35 %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4517136" y="5212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error promedio: de US$130 mil a US$85 mil por casa</a:t>
            </a:r>
            <a:endParaRPr lang="en-US" sz="1050" dirty="0"/>
          </a:p>
        </p:txBody>
      </p:sp>
      <p:sp>
        <p:nvSpPr>
          <p:cNvPr id="17" name="Tarjeta 3"/>
          <p:cNvSpPr/>
          <p:nvPr/>
        </p:nvSpPr>
        <p:spPr>
          <a:xfrm>
            <a:off x="8083296" y="4754880"/>
            <a:ext cx="3557016" cy="9144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284464" y="4846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Probado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284464" y="5212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ventas reales que el modelo no conocía al aprender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8155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83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significa: </a:t>
            </a:r>
            <a:r>
              <a:rPr lang="en-US" sz="125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y corregir los datos fue lo que más mejoró el estimador; el modelo final, ajustado con cientos de pruebas automáticas, lo afinó aún más.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mira el estimador? </a:t>
            </a:r>
            <a:r>
              <a:rPr lang="en-US" sz="28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Tamaño y ubicación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698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Peso de cada característica en el precio estimado (% del total)</a:t>
            </a:r>
            <a:endParaRPr lang="en-US" sz="1400" dirty="0"/>
          </a:p>
        </p:txBody>
      </p:sp>
      <p:graphicFrame>
        <p:nvGraphicFramePr>
          <p:cNvPr id="4" name="Grafico peso caracteristicas"/>
          <p:cNvGraphicFramePr/>
          <p:nvPr/>
        </p:nvGraphicFramePr>
        <p:xfrm>
          <a:off x="411480" y="1536192"/>
          <a:ext cx="70866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arjeta 88"/>
          <p:cNvSpPr/>
          <p:nvPr/>
        </p:nvSpPr>
        <p:spPr>
          <a:xfrm>
            <a:off x="7772400" y="1600200"/>
            <a:ext cx="3867912" cy="2377440"/>
          </a:xfrm>
          <a:prstGeom prst="roundRect">
            <a:avLst>
              <a:gd name="adj" fmla="val 4615"/>
            </a:avLst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28432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88 %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28432" y="2514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 precio lo explican el tamaño y la ubicación (zona y barrio).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28432" y="31272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F4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importancia nativa del modelo llega a la misma conclusión: 91 % entre tamaño, zona y barrio.</a:t>
            </a:r>
            <a:endParaRPr lang="en-US" sz="1100" dirty="0"/>
          </a:p>
        </p:txBody>
      </p:sp>
      <p:sp>
        <p:nvSpPr>
          <p:cNvPr id="9" name="Tarjeta banos"/>
          <p:cNvSpPr/>
          <p:nvPr/>
        </p:nvSpPr>
        <p:spPr>
          <a:xfrm>
            <a:off x="7772400" y="4160520"/>
            <a:ext cx="3867912" cy="2103120"/>
          </a:xfrm>
          <a:prstGeom prst="roundRect">
            <a:avLst>
              <a:gd name="adj" fmla="val 5217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28432" y="4370832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¿Y los baños o las habitaciones?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 importan, pero van de la mano con el tamaño: una casa grande suele tener más baños. Por eso el estimador los usa sobre todo para afinar casas del mismo tamaño.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Cuánto suma o resta </a:t>
            </a:r>
            <a:r>
              <a:rPr lang="en-US" sz="28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característica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698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Efecto aproximado en el precio frente a una casa promedio del mercado</a:t>
            </a:r>
            <a:endParaRPr lang="en-US" sz="1400" dirty="0"/>
          </a:p>
        </p:txBody>
      </p:sp>
      <p:graphicFrame>
        <p:nvGraphicFramePr>
          <p:cNvPr id="4" name="Grafico efecto caracteristicas"/>
          <p:cNvGraphicFramePr/>
          <p:nvPr/>
        </p:nvGraphicFramePr>
        <p:xfrm>
          <a:off x="411480" y="150876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arjeta mercado"/>
          <p:cNvSpPr/>
          <p:nvPr/>
        </p:nvSpPr>
        <p:spPr>
          <a:xfrm>
            <a:off x="548640" y="502920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51937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work/icons/check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5308092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53312" y="5175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estimador piensa como el mercado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353312" y="55046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metros, mejor vista, mejor estado, más baños y construcción reciente suben el precio. La ubicación pesa más que cualquier detalle de la casa.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1536192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Ninguna característica actúa en contra de la lógica.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828800"/>
            <a:ext cx="5833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cambia el precio estimado (≈ %, eje vertical) cuando sube cada característica. Puntos: casas de prueba · línea azul: tendencia.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233172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Área construida (m²)</a:t>
            </a:r>
            <a:endParaRPr lang="en-US" sz="1000" dirty="0"/>
          </a:p>
        </p:txBody>
      </p:sp>
      <p:pic>
        <p:nvPicPr>
          <p:cNvPr id="13" name="Image 1" descr="Dependencia SHAP: Área construida (m²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606040"/>
            <a:ext cx="1883664" cy="137488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81544" y="233172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Baños</a:t>
            </a:r>
            <a:endParaRPr lang="en-US" sz="1000" dirty="0"/>
          </a:p>
        </p:txBody>
      </p:sp>
      <p:pic>
        <p:nvPicPr>
          <p:cNvPr id="15" name="Image 2" descr="Dependencia SHAP: Bañ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544" y="2606040"/>
            <a:ext cx="1883664" cy="137488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56648" y="233172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Habitaciones</a:t>
            </a:r>
            <a:endParaRPr lang="en-US" sz="1000" dirty="0"/>
          </a:p>
        </p:txBody>
      </p:sp>
      <p:pic>
        <p:nvPicPr>
          <p:cNvPr id="17" name="Image 3" descr="Dependencia SHAP: Habitacion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6648" y="2606040"/>
            <a:ext cx="1883664" cy="137488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806440" y="4090649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de construcción</a:t>
            </a:r>
            <a:endParaRPr lang="en-US" sz="1000" dirty="0"/>
          </a:p>
        </p:txBody>
      </p:sp>
      <p:pic>
        <p:nvPicPr>
          <p:cNvPr id="19" name="Image 4" descr="Dependencia SHAP: Año de construcció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4364969"/>
            <a:ext cx="1883664" cy="137488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81544" y="4090649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 de la vista (0–4)</a:t>
            </a:r>
            <a:endParaRPr lang="en-US" sz="1000" dirty="0"/>
          </a:p>
        </p:txBody>
      </p:sp>
      <p:pic>
        <p:nvPicPr>
          <p:cNvPr id="21" name="Image 5" descr="Dependencia SHAP: Calidad de la vista (0–4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1544" y="4364969"/>
            <a:ext cx="1883664" cy="1374881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756648" y="4090649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de conservación (1–5)</a:t>
            </a:r>
            <a:endParaRPr lang="en-US" sz="1000" dirty="0"/>
          </a:p>
        </p:txBody>
      </p:sp>
      <p:pic>
        <p:nvPicPr>
          <p:cNvPr id="23" name="Image 6" descr="Dependencia SHAP: Estado de conservación (1–5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6648" y="4364969"/>
            <a:ext cx="1883664" cy="13748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lo usamos </a:t>
            </a:r>
            <a:r>
              <a:rPr lang="en-US" sz="2800" b="1" dirty="0">
                <a:solidFill>
                  <a:srgbClr val="008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el negocio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698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ingresan las características de una casa y el estimador entrega su precio de referencia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Así responde el estimador </a:t>
            </a:r>
            <a:r>
              <a:rPr lang="en-US" sz="1150" dirty="0">
                <a:solidFill>
                  <a:srgbClr val="5B6B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(ejemplos del notebook)</a:t>
            </a:r>
            <a:endParaRPr lang="en-US" sz="1150" dirty="0"/>
          </a:p>
        </p:txBody>
      </p:sp>
      <p:graphicFrame>
        <p:nvGraphicFramePr>
          <p:cNvPr id="6" name="Tabla ejemp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086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Zona (código postal)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Área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Baños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Habit.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Año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Vista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Precio estimado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Aviso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Sur (98042)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60 m²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2005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839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US$197 mil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OK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Seattle (98103)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95 m²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2012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839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US$544 mil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OK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Norte (98155)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140 m²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2014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839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US$548 mil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OK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Norte (98155)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140 m²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4262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2020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222B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839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US$548 mil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4262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Año fuera de rango (1900–2014)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Uso 1"/>
          <p:cNvSpPr/>
          <p:nvPr/>
        </p:nvSpPr>
        <p:spPr>
          <a:xfrm>
            <a:off x="548640" y="3364992"/>
            <a:ext cx="1645920" cy="1938528"/>
          </a:xfrm>
          <a:prstGeom prst="roundRect">
            <a:avLst>
              <a:gd name="adj" fmla="val 6667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3529584"/>
            <a:ext cx="457200" cy="457200"/>
          </a:xfrm>
          <a:prstGeom prst="ellipse">
            <a:avLst/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</p:spPr>
      </p:sp>
      <p:pic>
        <p:nvPicPr>
          <p:cNvPr id="8" name="Image 0" descr="/home/claude/work/icons/ha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643884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" y="4059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Fijar precios de venta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45354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punto de partida objetivo para no quedarse corto ni espantar compradores.</a:t>
            </a:r>
            <a:endParaRPr lang="en-US" sz="1000" dirty="0"/>
          </a:p>
        </p:txBody>
      </p:sp>
      <p:sp>
        <p:nvSpPr>
          <p:cNvPr id="11" name="Uso 2"/>
          <p:cNvSpPr/>
          <p:nvPr/>
        </p:nvSpPr>
        <p:spPr>
          <a:xfrm>
            <a:off x="2362200" y="3364992"/>
            <a:ext cx="1645920" cy="1938528"/>
          </a:xfrm>
          <a:prstGeom prst="roundRect">
            <a:avLst>
              <a:gd name="adj" fmla="val 6667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26792" y="3529584"/>
            <a:ext cx="457200" cy="457200"/>
          </a:xfrm>
          <a:prstGeom prst="ellipse">
            <a:avLst/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</p:spPr>
      </p:sp>
      <p:pic>
        <p:nvPicPr>
          <p:cNvPr id="13" name="Image 1" descr="/home/claude/work/icons/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092" y="3643884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26792" y="4059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Detectar oportunidades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2526792" y="45354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Casas ofrecidas muy por debajo de lo que el estimador considera su valor.</a:t>
            </a:r>
            <a:endParaRPr lang="en-US" sz="1000" dirty="0"/>
          </a:p>
        </p:txBody>
      </p:sp>
      <p:sp>
        <p:nvSpPr>
          <p:cNvPr id="16" name="Uso 3"/>
          <p:cNvSpPr/>
          <p:nvPr/>
        </p:nvSpPr>
        <p:spPr>
          <a:xfrm>
            <a:off x="4175760" y="3364992"/>
            <a:ext cx="1645920" cy="1938528"/>
          </a:xfrm>
          <a:prstGeom prst="roundRect">
            <a:avLst>
              <a:gd name="adj" fmla="val 6667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40352" y="3529584"/>
            <a:ext cx="457200" cy="457200"/>
          </a:xfrm>
          <a:prstGeom prst="ellipse">
            <a:avLst/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</p:spPr>
      </p:sp>
      <p:pic>
        <p:nvPicPr>
          <p:cNvPr id="18" name="Image 2" descr="/home/claude/work/icons/war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652" y="3643884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340352" y="4059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sobrepagos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4340352" y="45354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 cuando el precio pedido está muy por encima de lo esperado.</a:t>
            </a:r>
            <a:endParaRPr lang="en-US" sz="1000" dirty="0"/>
          </a:p>
        </p:txBody>
      </p:sp>
      <p:sp>
        <p:nvSpPr>
          <p:cNvPr id="21" name="Uso 4"/>
          <p:cNvSpPr/>
          <p:nvPr/>
        </p:nvSpPr>
        <p:spPr>
          <a:xfrm>
            <a:off x="5989320" y="3364992"/>
            <a:ext cx="1645920" cy="1938528"/>
          </a:xfrm>
          <a:prstGeom prst="roundRect">
            <a:avLst>
              <a:gd name="adj" fmla="val 6667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53912" y="3529584"/>
            <a:ext cx="457200" cy="457200"/>
          </a:xfrm>
          <a:prstGeom prst="ellipse">
            <a:avLst/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</p:spPr>
      </p:sp>
      <p:pic>
        <p:nvPicPr>
          <p:cNvPr id="23" name="Image 3" descr="/home/claude/work/icons/ma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212" y="3643884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153912" y="4059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2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Elegir dónde invertir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6153912" y="45354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Comparar zonas y tipos de casa con el mismo criterio.</a:t>
            </a:r>
            <a:endParaRPr lang="en-US" sz="1000" dirty="0"/>
          </a:p>
        </p:txBody>
      </p:sp>
      <p:sp>
        <p:nvSpPr>
          <p:cNvPr id="26" name="Antes de usarlo"/>
          <p:cNvSpPr/>
          <p:nvPr/>
        </p:nvSpPr>
        <p:spPr>
          <a:xfrm>
            <a:off x="7863840" y="1536192"/>
            <a:ext cx="3776472" cy="3767328"/>
          </a:xfrm>
          <a:prstGeom prst="roundRect">
            <a:avLst>
              <a:gd name="adj" fmla="val 2913"/>
            </a:avLst>
          </a:prstGeom>
          <a:solidFill>
            <a:srgbClr val="00839C"/>
          </a:solidFill>
          <a:ln w="12700">
            <a:solidFill>
              <a:srgbClr val="00839C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80924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usarlo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092440" y="21945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una referencia, no un avalúo.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son de 2014: hay que cargar ventas recientes de nuestro mercado.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Funciona mejor en casas de precio medio; las de lujo tienen más margen de error.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Avisa cuando una casa está fuera de lo que conoce (por ejemplo, construida después de 2014).</a:t>
            </a:r>
            <a:endParaRPr lang="en-US" sz="1300" dirty="0"/>
          </a:p>
        </p:txBody>
      </p:sp>
      <p:sp>
        <p:nvSpPr>
          <p:cNvPr id="29" name="Siguiente paso"/>
          <p:cNvSpPr/>
          <p:nvPr/>
        </p:nvSpPr>
        <p:spPr>
          <a:xfrm>
            <a:off x="548640" y="5504688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E2F4F6"/>
          </a:solidFill>
          <a:ln w="12700">
            <a:solidFill>
              <a:srgbClr val="E2F4F6"/>
            </a:solidFill>
            <a:prstDash val="solid"/>
          </a:ln>
          <a:effectLst>
            <a:outerShdw blurRad="101600" dist="25400" dir="5400000" algn="bl" rotWithShape="0">
              <a:srgbClr val="00566A">
                <a:alpha val="14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22960" y="550468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3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Siguiente paso: </a:t>
            </a:r>
            <a:r>
              <a:rPr lang="en-US" sz="1400" dirty="0">
                <a:solidFill>
                  <a:srgbClr val="1622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actualizar los datos con ventas recientes y poner el estimador a disposición del equipo comercial.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imador de precio">
  <a:themeElements>
    <a:clrScheme name="Estimador de precio">
      <a:dk1>
        <a:srgbClr val="16222B"/>
      </a:dk1>
      <a:lt1>
        <a:srgbClr val="FFFFFF"/>
      </a:lt1>
      <a:dk2>
        <a:srgbClr val="00839C"/>
      </a:dk2>
      <a:lt2>
        <a:srgbClr val="E2F4F6"/>
      </a:lt2>
      <a:accent1>
        <a:srgbClr val="00839C"/>
      </a:accent1>
      <a:accent2>
        <a:srgbClr val="16222B"/>
      </a:accent2>
      <a:accent3>
        <a:srgbClr val="5B6B75"/>
      </a:accent3>
      <a:accent4>
        <a:srgbClr val="D3DDE2"/>
      </a:accent4>
      <a:accent5>
        <a:srgbClr val="A4262C"/>
      </a:accent5>
      <a:accent6>
        <a:srgbClr val="9AA7AF"/>
      </a:accent6>
      <a:hlink>
        <a:srgbClr val="00839C"/>
      </a:hlink>
      <a:folHlink>
        <a:srgbClr val="5B6B75"/>
      </a:folHlink>
    </a:clrScheme>
    <a:fontScheme name="Estimador de precio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Microsoft Office PowerPoint</Application>
  <PresentationFormat>Panorámica</PresentationFormat>
  <Paragraphs>116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Montserrat</vt:lpstr>
      <vt:lpstr>Roboto</vt:lpstr>
      <vt:lpstr>Estimador de precio</vt:lpstr>
      <vt:lpstr>Presentación de PowerPoint</vt:lpstr>
      <vt:lpstr>Un estimador de precio cada vez más preciso</vt:lpstr>
      <vt:lpstr>¿Qué mira el estimador? Tamaño y ubicación</vt:lpstr>
      <vt:lpstr>Cuánto suma o resta cada característica</vt:lpstr>
      <vt:lpstr>Cómo lo usamos en el negocio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Estimador de precio de vivienda</dc:title>
  <dc:subject>PptxGenJS Presentation</dc:subject>
  <dc:creator>PptxGenJS</dc:creator>
  <cp:lastModifiedBy>Maikol R</cp:lastModifiedBy>
  <cp:revision>1</cp:revision>
  <dcterms:created xsi:type="dcterms:W3CDTF">2026-10-13T01:33:12Z</dcterms:created>
  <dcterms:modified xsi:type="dcterms:W3CDTF">2026-10-13T01:35:02Z</dcterms:modified>
</cp:coreProperties>
</file>